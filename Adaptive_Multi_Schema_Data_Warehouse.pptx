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1072865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D9488"/>
                </a:solidFill>
              </a:defRPr>
            </a:pPr>
            <a:r>
              <a:t>RESEARCH PROJECT PRESENTATION</a:t>
            </a:r>
          </a:p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</a:defRPr>
            </a:pPr>
            <a:r>
              <a:t>Adaptive Multi-Schema Data Warehouse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An ML-Based Query-Aware Schema Selection &amp; Physical Layout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566160"/>
            <a:ext cx="1005840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PROJECT TEAM MEMBERS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• Ashwin Kumar G rao          • Aritra das</a:t>
            </a:r>
            <a:br/>
            <a:r>
              <a:t>• Krishna Teja                         • Priyanshu Goyal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Backend: DuckDB Vectorized OLAP  |  ML Engine: Plan-Cost Multi-Target Regressors  |  UI: Streamlit Web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Introduction &amp; Motivation: The Data Warehouse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E3A8A"/>
                </a:solidFill>
              </a:defRPr>
            </a:pPr>
            <a:r>
              <a:t>The Single-Schema Dogma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Static Commitments: </a:t>
            </a:r>
            <a:r>
              <a:rPr sz="1300">
                <a:solidFill>
                  <a:srgbClr val="475569"/>
                </a:solidFill>
              </a:rPr>
              <a:t>Data engineers historically pick ONE layout—Star Schema, Normalized Snowflake, or One-Big-Table (OBT).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The Kimball Trade-off: </a:t>
            </a:r>
            <a:r>
              <a:rPr sz="1300">
                <a:solidFill>
                  <a:srgbClr val="475569"/>
                </a:solidFill>
              </a:rPr>
              <a:t>Star schemas are intuitive but suffer on multi-table joins and lack instant rollups.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The OBT Trade-off: </a:t>
            </a:r>
            <a:r>
              <a:rPr sz="1300">
                <a:solidFill>
                  <a:srgbClr val="475569"/>
                </a:solidFill>
              </a:rPr>
              <a:t>One-Big-Table avoids joins but wastes massive I/O sequentially scanning wide columns for point queries.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No Single Winner: </a:t>
            </a:r>
            <a:r>
              <a:rPr sz="1300">
                <a:solidFill>
                  <a:srgbClr val="475569"/>
                </a:solidFill>
              </a:rPr>
              <a:t>No single physical schema is optimal for all query types (point lookups, wide aggregations, KPI rollups).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D9488"/>
                </a:solidFill>
              </a:defRPr>
            </a:pPr>
            <a:r>
              <a:t>Our Core Research Question</a:t>
            </a:r>
          </a:p>
          <a:p>
            <a:pPr>
              <a:spcAft>
                <a:spcPts val="1600"/>
              </a:spcAft>
              <a:defRPr sz="1500" i="1">
                <a:solidFill>
                  <a:srgbClr val="1E3A8A"/>
                </a:solidFill>
              </a:defRPr>
            </a:pPr>
            <a:r>
              <a:t>“Can pre-execution query structure and query-plan characteristics be used to dynamically route queries across multiple physically specialized schemas with lower latency than any fixed strategy?”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Multi-Representation: </a:t>
            </a:r>
            <a:r>
              <a:rPr sz="1300">
                <a:solidFill>
                  <a:srgbClr val="475569"/>
                </a:solidFill>
              </a:rPr>
              <a:t>Materialize multiple specialized layouts simultaneously in DuckDB.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Leakage-Safe ML: </a:t>
            </a:r>
            <a:r>
              <a:rPr sz="1300">
                <a:solidFill>
                  <a:srgbClr val="475569"/>
                </a:solidFill>
              </a:rPr>
              <a:t>Extract pre-execution AST &amp; query-plan features without executing the query.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Dynamic Dispatch: </a:t>
            </a:r>
            <a:r>
              <a:rPr sz="1300">
                <a:solidFill>
                  <a:srgbClr val="475569"/>
                </a:solidFill>
              </a:rPr>
              <a:t>Route each query to its optimal physical layout in sub-millisecond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BACKGROUND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Research Evolution: The Honest Negative Finding in V1–V8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6459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B91C1C"/>
                </a:solidFill>
              </a:defRPr>
            </a:pPr>
            <a:r>
              <a:t>⚠ The V7 &amp; V8 Scientific Finding: Why Pure Relational Schema Selection Stalled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 V1–V8, the system attempted to route queries between Star, Snowflake, and Fact Constellation on DuckDB. Exhaustive benchmarking across 600 queries and 10M rows proved: the adaptive controller NEVER statistically outperformed a fixed Star schema (-0.34% gain, CI crossing zero). The Oracle gap was tiny (2.4%–5.3%) and indistinguishable from measurement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Vectorized Columnar Engine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DuckDB reads only referenced columns automatically. Snowflake's normalization gives zero projection advantage because columnar pruning already does this natively.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9184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In-Memory Dimension Joins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Dimension tables (1K customers, 60 products) remain cache-resident. Hash joins execute in microseconds, making Snowflake's extra joins pure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9184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3. Identical Execution Plans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Without physical indexing or partitioning, DuckDB produced identical sequential scan + hash join physical plans for Star and Fact Constellation.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The V9 Breakthrough: Multi-Representation Storage Specialization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Layout 1</a:t>
            </a:r>
          </a:p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</a:defRPr>
            </a:pPr>
            <a:r>
              <a:t>One-Big-Table (OBT)</a:t>
            </a:r>
          </a:p>
          <a:p>
            <a:pPr>
              <a:spcAft>
                <a:spcPts val="1200"/>
              </a:spcAft>
              <a:defRPr sz="1100" i="1">
                <a:solidFill>
                  <a:srgbClr val="475569"/>
                </a:solidFill>
              </a:defRPr>
            </a:pPr>
            <a:r>
              <a:t>Zero-Join Flat Scan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Pre-joined wide columnar table (obt_sales). Eliminates join hash tables completely. Perfect for wide scans &amp; complex filtering.</a:t>
            </a:r>
          </a:p>
          <a:p>
            <a:pPr>
              <a:defRPr sz="1200" b="1">
                <a:solidFill>
                  <a:srgbClr val="EA580C"/>
                </a:solidFill>
              </a:defRPr>
            </a:pPr>
            <a:r>
              <a:t>⚡ 2x – 5x faster vs Joins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Layout 2</a:t>
            </a:r>
          </a:p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</a:defRPr>
            </a:pPr>
            <a:r>
              <a:t>Clustered Star (ART)</a:t>
            </a:r>
          </a:p>
          <a:p>
            <a:pPr>
              <a:spcAft>
                <a:spcPts val="1200"/>
              </a:spcAft>
              <a:defRPr sz="1100" i="1">
                <a:solidFill>
                  <a:srgbClr val="475569"/>
                </a:solidFill>
              </a:defRPr>
            </a:pPr>
            <a:r>
              <a:t>Secondary Index Seeks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Fact table sorted by customer &amp; date with Adaptive Radix Tree (ART) secondary indexes. Bypasses 99%+ of table scanning.</a:t>
            </a:r>
          </a:p>
          <a:p>
            <a:pPr>
              <a:defRPr sz="1200" b="1">
                <a:solidFill>
                  <a:srgbClr val="EA580C"/>
                </a:solidFill>
              </a:defRPr>
            </a:pPr>
            <a:r>
              <a:t>⚡ 10x – 50x for Point Lookups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Layout 3</a:t>
            </a:r>
          </a:p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</a:defRPr>
            </a:pPr>
            <a:r>
              <a:t>Partitioned Snowflake</a:t>
            </a:r>
          </a:p>
          <a:p>
            <a:pPr>
              <a:spcAft>
                <a:spcPts val="1200"/>
              </a:spcAft>
              <a:defRPr sz="1100" i="1">
                <a:solidFill>
                  <a:srgbClr val="475569"/>
                </a:solidFill>
              </a:defRPr>
            </a:pPr>
            <a:r>
              <a:t>Zonemap Block Skipping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Normalized dimensions with fact clustered by temporal &amp; spatial keys. DuckDB skips entire blocks of non-matching partitions.</a:t>
            </a:r>
          </a:p>
          <a:p>
            <a:pPr>
              <a:defRPr sz="1200" b="1">
                <a:solidFill>
                  <a:srgbClr val="EA580C"/>
                </a:solidFill>
              </a:defRPr>
            </a:pPr>
            <a:r>
              <a:t>⚡ 3x – 10x for Regional Slices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Layout 4</a:t>
            </a:r>
          </a:p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</a:defRPr>
            </a:pPr>
            <a:r>
              <a:t>Aggregate Projections</a:t>
            </a:r>
          </a:p>
          <a:p>
            <a:pPr>
              <a:spcAft>
                <a:spcPts val="1200"/>
              </a:spcAft>
              <a:defRPr sz="1100" i="1">
                <a:solidFill>
                  <a:srgbClr val="475569"/>
                </a:solidFill>
              </a:defRPr>
            </a:pPr>
            <a:r>
              <a:t>Materialized Rollup Cubes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Pre-aggregated conformed rollup cubes answering summary KPI queries in &lt; 1 ms without touching raw fact records.</a:t>
            </a:r>
          </a:p>
          <a:p>
            <a:pPr>
              <a:defRPr sz="1200" b="1">
                <a:solidFill>
                  <a:srgbClr val="EA580C"/>
                </a:solidFill>
              </a:defRPr>
            </a:pPr>
            <a:r>
              <a:t>⚡ 10x – 100x for Rollups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System Architecture: End-to-End Autonomous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E3A8A"/>
                </a:solidFill>
              </a:rPr>
              <a:t>1. Data Generation:  </a:t>
            </a:r>
            <a:r>
              <a:rPr sz="1300">
                <a:solidFill>
                  <a:srgbClr val="475569"/>
                </a:solidFill>
              </a:rPr>
              <a:t>Deterministic synthetic generator creating sales, customer, product, and dates up to 10M 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E3A8A"/>
                </a:solidFill>
              </a:rPr>
              <a:t>2. Multi-Layout Materialization:  </a:t>
            </a:r>
            <a:r>
              <a:rPr sz="1300">
                <a:solidFill>
                  <a:srgbClr val="475569"/>
                </a:solidFill>
              </a:rPr>
              <a:t>Builds 4 distinct DuckDB physical databases (OBT, Star-ART, Part-Snow, Agg-Projections).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E3A8A"/>
                </a:solidFill>
              </a:rPr>
              <a:t>3. Query AST &amp; Plan Analysis:  </a:t>
            </a:r>
            <a:r>
              <a:rPr sz="1300">
                <a:solidFill>
                  <a:srgbClr val="475569"/>
                </a:solidFill>
              </a:rPr>
              <a:t>Extracts 51 syntactic AST features and DuckDB EXPLAIN plan estimates with zero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E3A8A"/>
                </a:solidFill>
              </a:rPr>
              <a:t>4. Learned Cost Router:  </a:t>
            </a:r>
            <a:r>
              <a:rPr sz="1300">
                <a:solidFill>
                  <a:srgbClr val="475569"/>
                </a:solidFill>
              </a:rPr>
              <a:t>Trained plan-cost regressor predicts execution latency for each layout and picks the argmin in 0.5 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E3A8A"/>
                </a:solidFill>
              </a:rPr>
              <a:t>5. Dynamic Query Execution:  </a:t>
            </a:r>
            <a:r>
              <a:rPr sz="1300">
                <a:solidFill>
                  <a:srgbClr val="475569"/>
                </a:solidFill>
              </a:rPr>
              <a:t>Adapts SQL to target layout, executes via DuckDB vectorized engine, and returns telemetry.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The Machine Learning Router: Sub-Millisecond Pre-Execution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E3A8A"/>
                </a:solidFill>
              </a:defRPr>
            </a:pPr>
            <a:r>
              <a:t>51 Pre-Execution Features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Syntactic AST Features: </a:t>
            </a:r>
            <a:r>
              <a:rPr sz="1200">
                <a:solidFill>
                  <a:srgbClr val="475569"/>
                </a:solidFill>
              </a:rPr>
              <a:t>Number of joins, aggregation functions (SUM/AVG/COUNT), WHERE/AND/OR predicates, GROUP BY column count, LIMIT value, projected column count.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Entity Filter Flags: </a:t>
            </a:r>
            <a:r>
              <a:rPr sz="1200">
                <a:solidFill>
                  <a:srgbClr val="475569"/>
                </a:solidFill>
              </a:rPr>
              <a:t>Detection of point filters (customer_id = 42), partition filters (year/month/region), and summary rollup compatibility.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Physical Plan Estimates: </a:t>
            </a:r>
            <a:r>
              <a:rPr sz="1200">
                <a:solidFill>
                  <a:srgbClr val="475569"/>
                </a:solidFill>
              </a:rPr>
              <a:t>Optimizer estimated output cardinality (log1p), scan operator counts, index scan flags, physical join counts, and plan tree depth.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Zero Target Leakage: </a:t>
            </a:r>
            <a:r>
              <a:rPr sz="1200">
                <a:solidFill>
                  <a:srgbClr val="475569"/>
                </a:solidFill>
              </a:rPr>
              <a:t>Strictly zero runtime execution timing is available to the model during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0D9488"/>
                </a:solidFill>
              </a:defRPr>
            </a:pPr>
            <a:r>
              <a:t>Model Formulation &amp; Training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Multi-Target Plan Cost Regressors: </a:t>
            </a:r>
            <a:r>
              <a:rPr sz="1200">
                <a:solidFill>
                  <a:srgbClr val="475569"/>
                </a:solidFill>
              </a:rPr>
              <a:t>Trained ensemble models predict log execution latency for each layout simultaneously: log(1 + T_obt), log(1 + T_star), etc.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Cost-Sensitive Routing: </a:t>
            </a:r>
            <a:r>
              <a:rPr sz="1200">
                <a:solidFill>
                  <a:srgbClr val="475569"/>
                </a:solidFill>
              </a:rPr>
              <a:t>Dispatches query to layout with minimal estimated latency: chosen = argmin_L (T_pred_L).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Leave-One-Workload-Out (LOWO) CV: </a:t>
            </a:r>
            <a:r>
              <a:rPr sz="1200">
                <a:solidFill>
                  <a:srgbClr val="475569"/>
                </a:solidFill>
              </a:rPr>
              <a:t>Evaluates extreme zero-shot generalization across held-out query families.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Stratified 5-Fold CV: </a:t>
            </a:r>
            <a:r>
              <a:rPr sz="1200">
                <a:solidFill>
                  <a:srgbClr val="475569"/>
                </a:solidFill>
              </a:rPr>
              <a:t>Evaluates realistic enterprise query traces, achieving 80% Oracle match rate.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Sub-Millisecond Overhead: </a:t>
            </a:r>
            <a:r>
              <a:rPr sz="1200">
                <a:solidFill>
                  <a:srgbClr val="475569"/>
                </a:solidFill>
              </a:rPr>
              <a:t>Model inference takes only 0.53 ms per query, making routing overhead negligible.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BENCHMARK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Empirical Results: Statistically Significant Speedup Verified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377440"/>
                <a:gridCol w="2681935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Benchmark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100K Rows (100,000)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1M Rows (1,000,000)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Conference Significance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Theoretical Oracle Headroom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22.04% reduction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23.00% reduction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Massive headroom opened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Best Fixed Single Layout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agg_projections (4.20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star_indexed (13.56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Single layout suffers on other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Adaptive Learned Router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3.41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10.75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Consistently tracks Oracle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Latency Reduction vs Best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+18.81% (1.23x speedup)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+20.70% (1.26x speedup)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Statistically proven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95% Bootstrap Confidence Interval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[+0.626, +0.965]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[+1.868, +3.874]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Zero NOT in CI (p &lt; 0.001)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Oracle Match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78.33%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80.00%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Reliable optimal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Key Scientific Milestone: In V7 and V8, the adaptive model was -0.34% slower with CIs crossing zero. In V9, AMR-DW delivers +20.70% faster execution with strictly positive confidence bounds [+1.868, +3.874] 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EMPIRICAL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Per-Workload Class Latency Breakdown</a:t>
            </a:r>
          </a:p>
        </p:txBody>
      </p:sp>
      <p:pic>
        <p:nvPicPr>
          <p:cNvPr id="5" name="Picture 4" descr="fig1_latency_by_workload_1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Workload Highlights (1M Rows)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Summary Rollup: </a:t>
            </a:r>
            <a:r>
              <a:rPr sz="1200">
                <a:solidFill>
                  <a:srgbClr val="475569"/>
                </a:solidFill>
              </a:rPr>
              <a:t>3.90x faster than best fixed baseline (5.11 ms vs 19.96 ms). 100% Oracle match rate!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Point Lookups: </a:t>
            </a:r>
            <a:r>
              <a:rPr sz="1200">
                <a:solidFill>
                  <a:srgbClr val="475569"/>
                </a:solidFill>
              </a:rPr>
              <a:t>Star-ART is 1.88x faster than OBT sequential scans (1.61 ms vs 3.02 ms). 85% match rate.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Wide Multi-Dim: </a:t>
            </a:r>
            <a:r>
              <a:rPr sz="1200">
                <a:solidFill>
                  <a:srgbClr val="475569"/>
                </a:solidFill>
              </a:rPr>
              <a:t>OBT zero-join scan is 1.54x faster than multi-join star schemas (3.50 ms vs 5.40 ms). 92.5% match rate.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Adaptive Router: </a:t>
            </a:r>
            <a:r>
              <a:rPr sz="1200">
                <a:solidFill>
                  <a:srgbClr val="475569"/>
                </a:solidFill>
              </a:rPr>
              <a:t>Successfully identifies the winning layout across every category, closely tracking the theoretical Oracle.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END-TO-END SPEEDUP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Cumulative Workload Latency vs Industry Baselines</a:t>
            </a:r>
          </a:p>
        </p:txBody>
      </p:sp>
      <p:pic>
        <p:nvPicPr>
          <p:cNvPr id="5" name="Picture 4" descr="fig2_cumulative_latency_1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703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</a:defRPr>
            </a:pPr>
            <a:r>
              <a:t>End-to-End Speedup Comparison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vs. Fixed OBT: </a:t>
            </a:r>
            <a:r>
              <a:rPr sz="1200">
                <a:solidFill>
                  <a:srgbClr val="475569"/>
                </a:solidFill>
              </a:rPr>
              <a:t>2.05x faster overall! (10.75 ms vs 22.04 ms). Eliminates the sequential scan penalty of flat wide tables.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vs. Fixed Snowflake: </a:t>
            </a:r>
            <a:r>
              <a:rPr sz="1200">
                <a:solidFill>
                  <a:srgbClr val="475569"/>
                </a:solidFill>
              </a:rPr>
              <a:t>1.57x faster overall! (10.75 ms vs 16.90 ms). Eliminates normalized join depth overhead.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vs. Fixed Star: </a:t>
            </a:r>
            <a:r>
              <a:rPr sz="1200">
                <a:solidFill>
                  <a:srgbClr val="475569"/>
                </a:solidFill>
              </a:rPr>
              <a:t>1.26x faster overall (+20.7% latency reduction). Captures pre-aggregated rollup opportunities.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Gap to Oracle: </a:t>
            </a:r>
            <a:r>
              <a:rPr sz="1200">
                <a:solidFill>
                  <a:srgbClr val="475569"/>
                </a:solidFill>
              </a:rPr>
              <a:t>The Adaptive Router achieves 10.75 ms vs the theoretical Oracle's 10.44 ms—capturing 80% of total possible headroom.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MULTI-REPRESENTATION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Empirical Oracle Win Distribution by Layout</a:t>
            </a:r>
          </a:p>
        </p:txBody>
      </p:sp>
      <p:pic>
        <p:nvPicPr>
          <p:cNvPr id="5" name="Picture 4" descr="fig3_oracle_win_distribution_1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02920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E3A8A"/>
                </a:solidFill>
              </a:defRPr>
            </a:pPr>
            <a:r>
              <a:t>Proof of Multi-Representation Need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One-Big-Table (42.9% Wins): </a:t>
            </a:r>
            <a:r>
              <a:rPr sz="1200">
                <a:solidFill>
                  <a:srgbClr val="475569"/>
                </a:solidFill>
              </a:rPr>
              <a:t>Dominates wide scans, cross-attribute filters, and mixed queries where zero-join vectorized scans beat all joins.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Clustered Star-ART (35.8% Wins): </a:t>
            </a:r>
            <a:r>
              <a:rPr sz="1200">
                <a:solidFill>
                  <a:srgbClr val="475569"/>
                </a:solidFill>
              </a:rPr>
              <a:t>Dominates point customer lookups, product searches, and conformed multi-fact returns joins.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Materialized Projections (15.8% Wins): </a:t>
            </a:r>
            <a:r>
              <a:rPr sz="1200">
                <a:solidFill>
                  <a:srgbClr val="475569"/>
                </a:solidFill>
              </a:rPr>
              <a:t>Dominates high-level temporal/regional/category rollups, answering queries in &lt; 1 ms.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Partitioned Snowflake (5.4% Wins): </a:t>
            </a:r>
            <a:r>
              <a:rPr sz="1200">
                <a:solidFill>
                  <a:srgbClr val="475569"/>
                </a:solidFill>
              </a:rPr>
              <a:t>Wins on time-windowed regional queries leveraging zonemap block skipping.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Key Takeaway: </a:t>
            </a:r>
            <a:r>
              <a:rPr sz="1200">
                <a:solidFill>
                  <a:srgbClr val="475569"/>
                </a:solidFill>
              </a:rPr>
              <a:t>In V7/V8, Star won 90%+ of queries because layouts were physically identical. In V9, physical specialization creates true balanced competition!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INTERPRETABILITY &amp; PLAN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What Drives the ML Routing Decision?</a:t>
            </a:r>
          </a:p>
        </p:txBody>
      </p:sp>
      <p:pic>
        <p:nvPicPr>
          <p:cNvPr id="5" name="Picture 4" descr="fig4_top_feature_importance_1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</a:defRPr>
            </a:pPr>
            <a:r>
              <a:t>Top Decisive Features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Plan Tree Depth: </a:t>
            </a:r>
            <a:r>
              <a:rPr sz="1200">
                <a:solidFill>
                  <a:srgbClr val="475569"/>
                </a:solidFill>
              </a:rPr>
              <a:t>Measures structural complexity of the physical operator graph across candidate layouts.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Estimated Output Cardinality: </a:t>
            </a:r>
            <a:r>
              <a:rPr sz="1200">
                <a:solidFill>
                  <a:srgbClr val="475569"/>
                </a:solidFill>
              </a:rPr>
              <a:t>DuckDB optimizer's estimated output row count (log1p). Drastically separates 36-row rollups from 1M-row scans.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Scan Operator Count: </a:t>
            </a:r>
            <a:r>
              <a:rPr sz="1200">
                <a:solidFill>
                  <a:srgbClr val="475569"/>
                </a:solidFill>
              </a:rPr>
              <a:t>Reflects whether a query requires scanning 1 wide table vs. 4 separate dimension tables.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Partition &amp; Point Filters: </a:t>
            </a:r>
            <a:r>
              <a:rPr sz="1200">
                <a:solidFill>
                  <a:srgbClr val="475569"/>
                </a:solidFill>
              </a:rPr>
              <a:t>Direct syntactic AST indicators of whether secondary ART index seeks or zonemap pruning will trigger.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SOFTWARE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Interactive Exploration: Streamlit Dashboard &amp; CLI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🌐 Streamlit Web Application (app.py)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Live Query Console: </a:t>
            </a:r>
            <a:r>
              <a:rPr sz="1200">
                <a:solidFill>
                  <a:srgbClr val="475569"/>
                </a:solidFill>
              </a:rPr>
              <a:t>Choose preset analytical templates or type any custom SQL query directly.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Real-Time Telemetry: </a:t>
            </a:r>
            <a:r>
              <a:rPr sz="1200">
                <a:solidFill>
                  <a:srgbClr val="475569"/>
                </a:solidFill>
              </a:rPr>
              <a:t>Displays chosen layout badge, decision latency (0.5 ms), actual runtime, and speedup vs Star.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Side-by-Side Cost Chart: </a:t>
            </a:r>
            <a:r>
              <a:rPr sz="1200">
                <a:solidFill>
                  <a:srgbClr val="475569"/>
                </a:solidFill>
              </a:rPr>
              <a:t>Visualizes predicted latency across all 4 candidate layouts.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Benchmark &amp; Scalability Tab: </a:t>
            </a:r>
            <a:r>
              <a:rPr sz="1200">
                <a:solidFill>
                  <a:srgbClr val="475569"/>
                </a:solidFill>
              </a:rPr>
              <a:t>Toggle between 100K and 1M rows with interactive win-distribution charts.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One-Command Launch: </a:t>
            </a:r>
            <a:r>
              <a:rPr sz="1200">
                <a:solidFill>
                  <a:srgbClr val="475569"/>
                </a:solidFill>
              </a:rPr>
              <a:t>streamlit run app.py (accessible via browser at localhost:8501).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💻 Developer Tooling &amp; Verification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Interactive CLI Router: </a:t>
            </a:r>
            <a:r>
              <a:rPr sz="1200">
                <a:solidFill>
                  <a:srgbClr val="475569"/>
                </a:solidFill>
              </a:rPr>
              <a:t>python src/optimizer/adaptive_router_v9.py --rows 1000000 --query "SELECT ..."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Automated Unit Test Suite: </a:t>
            </a:r>
            <a:r>
              <a:rPr sz="1200">
                <a:solidFill>
                  <a:srgbClr val="475569"/>
                </a:solidFill>
              </a:rPr>
              <a:t>python -m unittest discover -s tests -p "test_*.py" verifying 100% schema consistency &amp; feature parity.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Reproducible GitHub Repo: </a:t>
            </a:r>
            <a:r>
              <a:rPr sz="1200">
                <a:solidFill>
                  <a:srgbClr val="475569"/>
                </a:solidFill>
              </a:rPr>
              <a:t>Completely committed and pushed to https://github.com/Ashwin-arch/multi-schema-new-aakp.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Zero-Config Cross-Platform: </a:t>
            </a:r>
            <a:r>
              <a:rPr sz="1200">
                <a:solidFill>
                  <a:srgbClr val="475569"/>
                </a:solidFill>
              </a:rPr>
              <a:t>Standard requirements.txt with simple 3-step setup on Linux, macOS, and Windows WSL2.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SCIENTIFIC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Honest Discussion: Strengths vs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0B981"/>
                </a:solidFill>
              </a:defRPr>
            </a:pPr>
            <a:r>
              <a:t>✅ Core Strengths &amp; Advantages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Proven Query Speedup: </a:t>
            </a:r>
            <a:r>
              <a:rPr sz="1200">
                <a:solidFill>
                  <a:srgbClr val="475569"/>
                </a:solidFill>
              </a:rPr>
              <a:t>1.26x faster than best fixed layout, 2.05x faster than OBT, up to 3.9x faster on rollups.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High Oracle Capture: </a:t>
            </a:r>
            <a:r>
              <a:rPr sz="1200">
                <a:solidFill>
                  <a:srgbClr val="475569"/>
                </a:solidFill>
              </a:rPr>
              <a:t>Captures 80% of theoretical Oracle performance with 80% match accuracy.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Negligible Overhead: </a:t>
            </a:r>
            <a:r>
              <a:rPr sz="1200">
                <a:solidFill>
                  <a:srgbClr val="475569"/>
                </a:solidFill>
              </a:rPr>
              <a:t>Routing takes only 0.53 ms—orders of magnitude faster than analytical query execution.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Zero Runtime Leakage: </a:t>
            </a:r>
            <a:r>
              <a:rPr sz="1200">
                <a:solidFill>
                  <a:srgbClr val="475569"/>
                </a:solidFill>
              </a:rPr>
              <a:t>Features are strictly pre-execution (AST syntax + EXPLAIN operator estimates).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Statistical Significance: </a:t>
            </a:r>
            <a:r>
              <a:rPr sz="1200">
                <a:solidFill>
                  <a:srgbClr val="475569"/>
                </a:solidFill>
              </a:rPr>
              <a:t>95% Bootstrap CI [+1.87, +3.87] ms decisively rejects the null hypothesis.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EA580C"/>
                </a:solidFill>
              </a:defRPr>
            </a:pPr>
            <a:r>
              <a:t>⚠ System Trade-offs &amp; Limitations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Storage Amplification: </a:t>
            </a:r>
            <a:r>
              <a:rPr sz="1200">
                <a:solidFill>
                  <a:srgbClr val="475569"/>
                </a:solidFill>
              </a:rPr>
              <a:t>Maintaining 4 physical layouts requires ~2.5x to 3x more disk storage than a single Star schema.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Write / ETL Synchronization: </a:t>
            </a:r>
            <a:r>
              <a:rPr sz="1200">
                <a:solidFill>
                  <a:srgbClr val="475569"/>
                </a:solidFill>
              </a:rPr>
              <a:t>Best suited for read-heavy OLAP (batch loads). In high-frequency real-time update workloads, multi-table sync costs increase.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Scale-Out Boundary: </a:t>
            </a:r>
            <a:r>
              <a:rPr sz="1200">
                <a:solidFill>
                  <a:srgbClr val="475569"/>
                </a:solidFill>
              </a:rPr>
              <a:t>Currently evaluated as a single-node in-process vectorized engine (DuckDB up to 10M rows); distributed multi-node scaling remains future work.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Workload Drift: </a:t>
            </a:r>
            <a:r>
              <a:rPr sz="1200">
                <a:solidFill>
                  <a:srgbClr val="475569"/>
                </a:solidFill>
              </a:rPr>
              <a:t>Requires retraining if query distribution shifts drastically into unobserved analytical domains.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E3A8A"/>
                </a:solidFill>
              </a:defRPr>
            </a:pPr>
            <a:r>
              <a:t>Key Contributions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Overcame Classical Schema Bottleneck: </a:t>
            </a:r>
            <a:r>
              <a:rPr sz="1200">
                <a:solidFill>
                  <a:srgbClr val="475569"/>
                </a:solidFill>
              </a:rPr>
              <a:t>Demonstrated why pure relational normalization fails on modern columnar engines and pivoted to physical layout specialization.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AMR-DW Framework (V9): </a:t>
            </a:r>
            <a:r>
              <a:rPr sz="1200">
                <a:solidFill>
                  <a:srgbClr val="475569"/>
                </a:solidFill>
              </a:rPr>
              <a:t>First autonomous system combining OBT, Clustered Star-ART, Partitioned Snowflake, and Materialized Projections.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Empirical Validation: </a:t>
            </a:r>
            <a:r>
              <a:rPr sz="1200">
                <a:solidFill>
                  <a:srgbClr val="475569"/>
                </a:solidFill>
              </a:rPr>
              <a:t>Delivered +20.70% latency reduction over best fixed schema and 2.05x speedup over OBT with statistical significance.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✔ Turnkey Reproducibility: </a:t>
            </a:r>
            <a:r>
              <a:rPr sz="1200">
                <a:solidFill>
                  <a:srgbClr val="475569"/>
                </a:solidFill>
              </a:rPr>
              <a:t>Complete open-source codebase, automated tests, and interactive Streamlit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0D9488"/>
                </a:solidFill>
              </a:defRPr>
            </a:pPr>
            <a:r>
              <a:t>Future Research Directions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🔮 Autonomous Materialized Views: </a:t>
            </a:r>
            <a:r>
              <a:rPr sz="1200">
                <a:solidFill>
                  <a:srgbClr val="475569"/>
                </a:solidFill>
              </a:rPr>
              <a:t>Dynamically synthesize and drop rollup projections on-the-fly based on live query frequency.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🔮 Distributed Engine Routing (Polystore): </a:t>
            </a:r>
            <a:r>
              <a:rPr sz="1200">
                <a:solidFill>
                  <a:srgbClr val="475569"/>
                </a:solidFill>
              </a:rPr>
              <a:t>Expand routing across heterogeneous engines (e.g., DuckDB for analytical vector scans, SQLite for point lookups).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🔮 Incremental Streaming Maintenance: </a:t>
            </a:r>
            <a:r>
              <a:rPr sz="1200">
                <a:solidFill>
                  <a:srgbClr val="475569"/>
                </a:solidFill>
              </a:rPr>
              <a:t>Implement delta-based change data capture (CDC) to synchronize physical layouts with minimal write cost.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🔮 Deep Tree-Convolutional Models: </a:t>
            </a:r>
            <a:r>
              <a:rPr sz="1200">
                <a:solidFill>
                  <a:srgbClr val="475569"/>
                </a:solidFill>
              </a:rPr>
              <a:t>Integrate Tree-CNN plan encoders (Bao-style) for zero-shot generalized plan routing.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849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40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pPr algn="ctr">
              <a:spcAft>
                <a:spcPts val="1600"/>
              </a:spcAft>
              <a:defRPr sz="2000" b="1">
                <a:solidFill>
                  <a:srgbClr val="0D9488"/>
                </a:solidFill>
              </a:defRPr>
            </a:pPr>
            <a:r>
              <a:t>Adaptive Multi-Schema Data Warehouse (AMR-DW / V9)</a:t>
            </a:r>
          </a:p>
          <a:p>
            <a:pPr algn="ctr">
              <a:spcAft>
                <a:spcPts val="1600"/>
              </a:spcAft>
              <a:defRPr sz="1500" b="1">
                <a:solidFill>
                  <a:srgbClr val="0F172A"/>
                </a:solidFill>
              </a:defRPr>
            </a:pPr>
            <a:r>
              <a:t>Ashwin Kumar G rao   |   Aritra das   |   Krishna Teja   |   Priyanshu Goyal</a:t>
            </a:r>
          </a:p>
          <a:p>
            <a:pPr algn="ctr">
              <a:spcAft>
                <a:spcPts val="1600"/>
              </a:spcAft>
              <a:defRPr sz="1300">
                <a:solidFill>
                  <a:srgbClr val="475569"/>
                </a:solidFill>
              </a:defRPr>
            </a:pPr>
            <a:r>
              <a:t>🔗 GitHub Repository: https://github.com/Ashwin-arch/multi-schema-new-aakp</a:t>
            </a:r>
            <a:br/>
            <a:r>
              <a:t>🚀 Live Streamlit Web App: http://localhost:8501</a:t>
            </a:r>
          </a:p>
          <a:p>
            <a:pPr algn="ctr">
              <a:defRPr sz="2200" b="1">
                <a:solidFill>
                  <a:srgbClr val="EA580C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